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34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7423" userDrawn="1">
          <p15:clr>
            <a:srgbClr val="A4A3A4"/>
          </p15:clr>
        </p15:guide>
        <p15:guide id="4" orient="horz" pos="187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7" orient="horz" pos="2183" userDrawn="1">
          <p15:clr>
            <a:srgbClr val="A4A3A4"/>
          </p15:clr>
        </p15:guide>
        <p15:guide id="18" pos="1572" userDrawn="1">
          <p15:clr>
            <a:srgbClr val="A4A3A4"/>
          </p15:clr>
        </p15:guide>
        <p15:guide id="19" pos="5019" userDrawn="1">
          <p15:clr>
            <a:srgbClr val="A4A3A4"/>
          </p15:clr>
        </p15:guide>
        <p15:guide id="20" orient="horz" pos="709" userDrawn="1">
          <p15:clr>
            <a:srgbClr val="A4A3A4"/>
          </p15:clr>
        </p15:guide>
        <p15:guide id="21" orient="horz" pos="1684" userDrawn="1">
          <p15:clr>
            <a:srgbClr val="A4A3A4"/>
          </p15:clr>
        </p15:guide>
        <p15:guide id="22" pos="53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4FF"/>
    <a:srgbClr val="F1BB87"/>
    <a:srgbClr val="E3BBA2"/>
    <a:srgbClr val="CFFFB3"/>
    <a:srgbClr val="A5D8FF"/>
    <a:srgbClr val="2132A0"/>
    <a:srgbClr val="93B8FF"/>
    <a:srgbClr val="ECECEC"/>
    <a:srgbClr val="D0AD99"/>
    <a:srgbClr val="F3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68"/>
  </p:normalViewPr>
  <p:slideViewPr>
    <p:cSldViewPr snapToGrid="0" showGuides="1">
      <p:cViewPr varScale="1">
        <p:scale>
          <a:sx n="93" d="100"/>
          <a:sy n="93" d="100"/>
        </p:scale>
        <p:origin x="216" y="472"/>
      </p:cViewPr>
      <p:guideLst>
        <p:guide pos="7423"/>
        <p:guide orient="horz" pos="187"/>
        <p:guide orient="horz" pos="4133"/>
        <p:guide pos="257"/>
        <p:guide pos="3840"/>
        <p:guide orient="horz" pos="2183"/>
        <p:guide pos="1572"/>
        <p:guide pos="5019"/>
        <p:guide orient="horz" pos="709"/>
        <p:guide orient="horz" pos="1684"/>
        <p:guide pos="5337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CD1B7-6427-DF4F-ABCF-B5D1EBFB0EF6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C891A-175B-0B49-A34C-8B5FA541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39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256A-CF08-994E-D8AF-87C6A40A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447422-E902-FC33-40A0-A679F220D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E200586-FB23-B6D9-B84C-59416C103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D80A84-0FCC-2CAD-9C46-7B7E7106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C891A-175B-0B49-A34C-8B5FA541B8C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940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D722A-5887-F5E6-98CF-EA325EB85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ACB183-A6B2-EE68-C09F-EEAC7223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66DCB-3C46-C801-7E72-08ABDEC2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2A6180-B242-D49C-8879-DEB793B6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9D1058-2D1F-A561-53D2-CDBBB315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10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56C01-0D4B-0CD9-6780-D7705C84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712451-E4D7-0E23-1837-4AAE783A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468A29-81F5-1805-1844-6B3AFD7B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9F9601-5A30-3248-D956-7042BBA7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1ACBED-C245-9A8F-7E09-6F56F6B0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88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D9A83-AE60-6898-9F50-4651844D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513CE2-B002-9C53-8F91-93BAD9E59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017147-379F-1D2E-7C90-1BA206B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274403-723A-ED55-8B8F-DE4641D6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6C105-EA37-304A-E96D-F5488E26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48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A700B-C3A0-FE63-505F-35551E14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D4989D-8B07-6E0E-E973-D98572729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00006A-3775-1792-C438-9A0095C30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5CE309-ACB3-77A3-EE39-E10CFF2A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22BA41-6110-66B8-3DE9-855602CD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1D10E5-1659-61EA-27D8-927BE634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35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85CC2-944E-F4AE-9AD9-C46126CB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8DD6F-3920-82D2-D19B-B4E715AC4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D25500-13C6-63D6-71F9-479B121F2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3ABCBA-A2DB-9117-46FF-DB7DBA643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EFCE19-8D19-80E4-3833-906A03D96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ED4519-12A2-6EFD-050A-1B51AAD0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5B34D6-7FDB-35D0-3B69-D0CA4F6A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096A87-47F0-8E78-B64E-90288248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99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3A230-74D4-2D97-5D59-46CA2D15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B3C4C33-50F1-67AC-D771-A5EA7153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BF48A3-3A98-61AC-40BA-EB49E221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A2469D-6934-4FC2-376C-DC1D789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76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28B2EC-03F7-6671-5097-7CF0652C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A7DA50-F9DB-F591-E841-9AC26719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A745EB-D067-B354-F871-50CC32C2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87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613CE-B0BF-1324-09EF-C8E45ABAF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6BAF6C-5AFA-B97B-9861-1449D6C18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6989E4-962B-7735-5043-19DCEBDAA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A6F359-A53A-A1BD-9C2D-0927C1088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238062-870F-73B1-C328-AA3681ED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9E0A7E-8759-8F23-7A3C-F9A2452C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91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FF931-AE67-BA07-80CC-0DD146C4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71285C-DBAA-6926-000D-FF9ACD19C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ADCC92-27A5-8C2A-3FBB-34F674A14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640626-C2E4-3FC5-2156-585547A2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ACAA45-0CC9-7B46-B7DC-7986F7DA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1A0B77-7343-378A-9F21-EF75C54A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19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AD71B-FEFD-DD5C-AAE7-6904C4E9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9E9680-EE97-CB23-EAA6-BDF5BACAC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F7FE68-3E9C-2ED9-4032-CA3646F0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E18A8-A70C-3318-C176-AA1F8192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A8730-7DA4-EF4F-4C7B-23C03CA3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61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1C61C27-3E73-9C6D-E682-85CB5CEEE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72D903-F2F2-AA42-BE00-EC03CE215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96768C-4883-7C83-2453-96A145F7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8E606-41F5-8570-AD12-37F15046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740ADC-18CA-B756-91B9-86B1C518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59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C6E14-8083-1DF7-015D-0C063BD9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E62EF3-9A13-F49B-D91B-8AB6FEF5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EC0017-7DDE-7605-F204-F6A9A7EEA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C7F8D-C11A-E14D-BFED-54361FB19E54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F6118-4636-FE2C-F81F-A65246505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18C01A-A2AF-9A75-1230-B04FC7740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DEA4D-F7E1-FC49-955C-835EB9B097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8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5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55F59-341A-E501-58D3-550AFCE6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96D686B0-A84B-EF72-334E-066869EE1BAF}"/>
              </a:ext>
            </a:extLst>
          </p:cNvPr>
          <p:cNvSpPr/>
          <p:nvPr/>
        </p:nvSpPr>
        <p:spPr>
          <a:xfrm>
            <a:off x="0" y="1300961"/>
            <a:ext cx="7553740" cy="1717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 descr="Изображение выглядит как одежда, человек, Человеческое лицо, портр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3233E4-2C50-BA1A-F060-791A5FB8D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13213" y="-169075"/>
            <a:ext cx="2176375" cy="326967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9D6EDCF-2829-E9CD-A8EB-AA940D998DEB}"/>
              </a:ext>
            </a:extLst>
          </p:cNvPr>
          <p:cNvSpPr txBox="1"/>
          <p:nvPr/>
        </p:nvSpPr>
        <p:spPr>
          <a:xfrm>
            <a:off x="327502" y="150923"/>
            <a:ext cx="53974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ru-RU" sz="3000" b="1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ИТУНИНА</a:t>
            </a:r>
            <a:r>
              <a:rPr lang="ru-RU" sz="30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3000" b="1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АЛЕКСАНДРА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5488E0-A510-2514-17FF-97AA02625A7C}"/>
              </a:ext>
            </a:extLst>
          </p:cNvPr>
          <p:cNvSpPr txBox="1"/>
          <p:nvPr/>
        </p:nvSpPr>
        <p:spPr>
          <a:xfrm>
            <a:off x="329636" y="713780"/>
            <a:ext cx="4693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ru-RU" dirty="0">
                <a:solidFill>
                  <a:schemeClr val="bg1"/>
                </a:solidFill>
                <a:latin typeface="Manrope" pitchFamily="2" charset="0"/>
                <a:ea typeface="Lato" panose="020F0502020204030203" pitchFamily="34" charset="0"/>
                <a:cs typeface="Lato" panose="020F0502020204030203" pitchFamily="34" charset="0"/>
              </a:rPr>
              <a:t>Дизайнер-презентаций</a:t>
            </a:r>
            <a:endParaRPr lang="ru-RU" sz="2000" dirty="0">
              <a:solidFill>
                <a:schemeClr val="bg1"/>
              </a:solidFill>
              <a:latin typeface="Manrope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6FAA16-9B24-D03B-30A8-98B60D97632D}"/>
              </a:ext>
            </a:extLst>
          </p:cNvPr>
          <p:cNvSpPr/>
          <p:nvPr/>
        </p:nvSpPr>
        <p:spPr>
          <a:xfrm>
            <a:off x="7553739" y="1"/>
            <a:ext cx="4638261" cy="3166699"/>
          </a:xfrm>
          <a:prstGeom prst="rect">
            <a:avLst/>
          </a:prstGeom>
          <a:solidFill>
            <a:srgbClr val="93B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D632BD4-26D8-8556-6FA2-DB4025556D31}"/>
              </a:ext>
            </a:extLst>
          </p:cNvPr>
          <p:cNvSpPr/>
          <p:nvPr/>
        </p:nvSpPr>
        <p:spPr>
          <a:xfrm>
            <a:off x="1" y="3018253"/>
            <a:ext cx="7553737" cy="3839746"/>
          </a:xfrm>
          <a:prstGeom prst="rect">
            <a:avLst/>
          </a:prstGeom>
          <a:solidFill>
            <a:srgbClr val="2132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81E15C9-3E3A-AD89-89DE-5080F051168D}"/>
              </a:ext>
            </a:extLst>
          </p:cNvPr>
          <p:cNvGrpSpPr/>
          <p:nvPr/>
        </p:nvGrpSpPr>
        <p:grpSpPr>
          <a:xfrm>
            <a:off x="327501" y="1551155"/>
            <a:ext cx="5318821" cy="1078405"/>
            <a:chOff x="327501" y="1494759"/>
            <a:chExt cx="5318821" cy="1078405"/>
          </a:xfrm>
        </p:grpSpPr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9F1D4CEA-F8C4-317B-CD68-E57D1DF54503}"/>
                </a:ext>
              </a:extLst>
            </p:cNvPr>
            <p:cNvGrpSpPr/>
            <p:nvPr/>
          </p:nvGrpSpPr>
          <p:grpSpPr>
            <a:xfrm>
              <a:off x="327501" y="1868761"/>
              <a:ext cx="5318821" cy="704403"/>
              <a:chOff x="327501" y="1391335"/>
              <a:chExt cx="5318821" cy="704403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741D1FD-EFE7-27E0-3545-4B7D1DE104AB}"/>
                  </a:ext>
                </a:extLst>
              </p:cNvPr>
              <p:cNvSpPr txBox="1"/>
              <p:nvPr/>
            </p:nvSpPr>
            <p:spPr>
              <a:xfrm>
                <a:off x="327502" y="1391335"/>
                <a:ext cx="16805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750"/>
                  </a:spcBef>
                </a:pPr>
                <a:r>
                  <a:rPr lang="en-US" sz="2800" b="1" dirty="0">
                    <a:solidFill>
                      <a:srgbClr val="2132A0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Lato" panose="020F0502020204030203" pitchFamily="34" charset="0"/>
                  </a:rPr>
                  <a:t>5</a:t>
                </a:r>
                <a:r>
                  <a:rPr lang="ru-RU" sz="2800" b="1" dirty="0">
                    <a:solidFill>
                      <a:srgbClr val="2132A0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Lato" panose="020F0502020204030203" pitchFamily="34" charset="0"/>
                  </a:rPr>
                  <a:t> лет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E431C38-7047-BED0-6A84-9A1028AC8F31}"/>
                  </a:ext>
                </a:extLst>
              </p:cNvPr>
              <p:cNvSpPr txBox="1"/>
              <p:nvPr/>
            </p:nvSpPr>
            <p:spPr>
              <a:xfrm>
                <a:off x="2406112" y="1864906"/>
                <a:ext cx="324021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750"/>
                  </a:spcBef>
                </a:pPr>
                <a:r>
                  <a:rPr lang="ru-RU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nrope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дизайнер в штате </a:t>
                </a:r>
                <a:r>
                  <a:rPr lang="en" sz="9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nrope Bold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Commonwealth Partnership</a:t>
                </a:r>
                <a:endParaRPr lang="ru-RU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anrope Bold" pitchFamily="2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E49C840-E138-45FB-7597-21B8B83CEF11}"/>
                  </a:ext>
                </a:extLst>
              </p:cNvPr>
              <p:cNvSpPr txBox="1"/>
              <p:nvPr/>
            </p:nvSpPr>
            <p:spPr>
              <a:xfrm>
                <a:off x="327501" y="1864906"/>
                <a:ext cx="204271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750"/>
                  </a:spcBef>
                </a:pPr>
                <a:r>
                  <a:rPr lang="ru-RU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nrope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фрилансер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4B167D9-E683-B31B-D535-158EF32A812F}"/>
                  </a:ext>
                </a:extLst>
              </p:cNvPr>
              <p:cNvSpPr txBox="1"/>
              <p:nvPr/>
            </p:nvSpPr>
            <p:spPr>
              <a:xfrm>
                <a:off x="2380588" y="1391335"/>
                <a:ext cx="20390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750"/>
                  </a:spcBef>
                </a:pPr>
                <a:r>
                  <a:rPr lang="ru-RU" sz="2800" b="1" dirty="0">
                    <a:solidFill>
                      <a:srgbClr val="2132A0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Lato" panose="020F0502020204030203" pitchFamily="34" charset="0"/>
                  </a:rPr>
                  <a:t>1.5 года</a:t>
                </a:r>
              </a:p>
            </p:txBody>
          </p:sp>
          <p:cxnSp>
            <p:nvCxnSpPr>
              <p:cNvPr id="54" name="Прямая со стрелкой 53">
                <a:extLst>
                  <a:ext uri="{FF2B5EF4-FFF2-40B4-BE49-F238E27FC236}">
                    <a16:creationId xmlns:a16="http://schemas.microsoft.com/office/drawing/2014/main" id="{F6AD3F6F-C22A-389B-4FF9-8F331C3E6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8626" y="1683722"/>
                <a:ext cx="599453" cy="0"/>
              </a:xfrm>
              <a:prstGeom prst="straightConnector1">
                <a:avLst/>
              </a:prstGeom>
              <a:ln w="25400">
                <a:solidFill>
                  <a:srgbClr val="2132A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E633E4D-0282-AF1C-E908-0E61B1010F03}"/>
                </a:ext>
              </a:extLst>
            </p:cNvPr>
            <p:cNvSpPr txBox="1"/>
            <p:nvPr/>
          </p:nvSpPr>
          <p:spPr>
            <a:xfrm>
              <a:off x="327501" y="1494759"/>
              <a:ext cx="222351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750"/>
                </a:spcBef>
              </a:pPr>
              <a:r>
                <a:rPr lang="ru-RU" sz="1600" dirty="0">
                  <a:solidFill>
                    <a:srgbClr val="2132A0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Опыт работы: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C48C7676-102D-A874-70EF-DDEFD02A9316}"/>
              </a:ext>
            </a:extLst>
          </p:cNvPr>
          <p:cNvSpPr txBox="1"/>
          <p:nvPr/>
        </p:nvSpPr>
        <p:spPr>
          <a:xfrm>
            <a:off x="7889589" y="202964"/>
            <a:ext cx="2866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ru-RU" sz="2400" b="1" dirty="0">
                <a:solidFill>
                  <a:srgbClr val="2132A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ОБРАЗОВАНИЕ</a:t>
            </a:r>
          </a:p>
        </p:txBody>
      </p: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1B82789D-D831-626F-BDBB-36463D4BF541}"/>
              </a:ext>
            </a:extLst>
          </p:cNvPr>
          <p:cNvGrpSpPr/>
          <p:nvPr/>
        </p:nvGrpSpPr>
        <p:grpSpPr>
          <a:xfrm>
            <a:off x="7983670" y="1084676"/>
            <a:ext cx="3552261" cy="615568"/>
            <a:chOff x="7965382" y="1064147"/>
            <a:chExt cx="3552261" cy="615568"/>
          </a:xfrm>
        </p:grpSpPr>
        <p:grpSp>
          <p:nvGrpSpPr>
            <p:cNvPr id="87" name="Группа 86">
              <a:extLst>
                <a:ext uri="{FF2B5EF4-FFF2-40B4-BE49-F238E27FC236}">
                  <a16:creationId xmlns:a16="http://schemas.microsoft.com/office/drawing/2014/main" id="{90E42263-01D1-0690-5A90-9CED35B09C52}"/>
                </a:ext>
              </a:extLst>
            </p:cNvPr>
            <p:cNvGrpSpPr/>
            <p:nvPr/>
          </p:nvGrpSpPr>
          <p:grpSpPr>
            <a:xfrm>
              <a:off x="7965382" y="1064147"/>
              <a:ext cx="706719" cy="615568"/>
              <a:chOff x="7965382" y="724344"/>
              <a:chExt cx="706719" cy="615568"/>
            </a:xfrm>
          </p:grpSpPr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FD29DAF8-B7C1-41F5-5C38-AC4D16154393}"/>
                  </a:ext>
                </a:extLst>
              </p:cNvPr>
              <p:cNvSpPr/>
              <p:nvPr/>
            </p:nvSpPr>
            <p:spPr>
              <a:xfrm>
                <a:off x="7965382" y="724344"/>
                <a:ext cx="593576" cy="593576"/>
              </a:xfrm>
              <a:prstGeom prst="ellipse">
                <a:avLst/>
              </a:prstGeom>
              <a:solidFill>
                <a:srgbClr val="345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86" name="Рисунок 85" descr="Изображение выглядит как зарисовка, графическая вставка, белый, черно-белый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4E7B5CE6-B95C-FFA9-B904-DC9E775FC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47947" y="815758"/>
                <a:ext cx="524154" cy="524154"/>
              </a:xfrm>
              <a:prstGeom prst="rect">
                <a:avLst/>
              </a:prstGeom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5F00CAC-9721-1742-7E3D-683DA7F190BB}"/>
                </a:ext>
              </a:extLst>
            </p:cNvPr>
            <p:cNvSpPr txBox="1"/>
            <p:nvPr/>
          </p:nvSpPr>
          <p:spPr>
            <a:xfrm>
              <a:off x="8912907" y="1071849"/>
              <a:ext cx="2604736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750"/>
                </a:spcBef>
              </a:pPr>
              <a:r>
                <a:rPr lang="ru-RU" sz="1050" b="1" dirty="0">
                  <a:solidFill>
                    <a:srgbClr val="2132A0"/>
                  </a:solidFill>
                  <a:latin typeface="Manrope Bold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Ленинградский государственный университет им. А.С. Пушкина, </a:t>
              </a:r>
              <a:r>
                <a:rPr lang="ru-RU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графический дизайн, магистр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C18A701A-9CCC-AE71-4BD7-6CDC98851272}"/>
              </a:ext>
            </a:extLst>
          </p:cNvPr>
          <p:cNvGrpSpPr/>
          <p:nvPr/>
        </p:nvGrpSpPr>
        <p:grpSpPr>
          <a:xfrm>
            <a:off x="7983670" y="2095279"/>
            <a:ext cx="3552261" cy="738664"/>
            <a:chOff x="7965382" y="2090752"/>
            <a:chExt cx="3552261" cy="738664"/>
          </a:xfrm>
        </p:grpSpPr>
        <p:grpSp>
          <p:nvGrpSpPr>
            <p:cNvPr id="88" name="Группа 87">
              <a:extLst>
                <a:ext uri="{FF2B5EF4-FFF2-40B4-BE49-F238E27FC236}">
                  <a16:creationId xmlns:a16="http://schemas.microsoft.com/office/drawing/2014/main" id="{771EB023-9D5D-0505-219B-EEFE4D87074F}"/>
                </a:ext>
              </a:extLst>
            </p:cNvPr>
            <p:cNvGrpSpPr/>
            <p:nvPr/>
          </p:nvGrpSpPr>
          <p:grpSpPr>
            <a:xfrm>
              <a:off x="7965382" y="2163296"/>
              <a:ext cx="660467" cy="593576"/>
              <a:chOff x="7965382" y="1603799"/>
              <a:chExt cx="660467" cy="593576"/>
            </a:xfrm>
          </p:grpSpPr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85C126FB-916A-17BD-7DE4-1B65EE98F662}"/>
                  </a:ext>
                </a:extLst>
              </p:cNvPr>
              <p:cNvSpPr/>
              <p:nvPr/>
            </p:nvSpPr>
            <p:spPr>
              <a:xfrm>
                <a:off x="7965382" y="1603799"/>
                <a:ext cx="593576" cy="593576"/>
              </a:xfrm>
              <a:prstGeom prst="ellipse">
                <a:avLst/>
              </a:prstGeom>
              <a:solidFill>
                <a:srgbClr val="345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85" name="Рисунок 84" descr="Изображение выглядит как зарисовка, искусство, рисунок, Симметрия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59512F11-B074-F958-76FA-5FFA0A8D7F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64404" y="1694914"/>
                <a:ext cx="461445" cy="461445"/>
              </a:xfrm>
              <a:prstGeom prst="rect">
                <a:avLst/>
              </a:prstGeom>
            </p:spPr>
          </p:pic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70B8EF1-CF86-D7B1-2C6E-E8DEB2C61BE4}"/>
                </a:ext>
              </a:extLst>
            </p:cNvPr>
            <p:cNvSpPr txBox="1"/>
            <p:nvPr/>
          </p:nvSpPr>
          <p:spPr>
            <a:xfrm>
              <a:off x="8912907" y="2090752"/>
              <a:ext cx="260473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750"/>
                </a:spcBef>
              </a:pPr>
              <a:r>
                <a:rPr lang="ru-RU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Сертификация по курсам:</a:t>
              </a:r>
              <a:br>
                <a:rPr lang="ru-RU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" sz="1050" b="1" dirty="0">
                  <a:solidFill>
                    <a:srgbClr val="2132A0"/>
                  </a:solidFill>
                  <a:latin typeface="Manrope ExtraBold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Bonnie &amp; Slide, </a:t>
              </a:r>
              <a:r>
                <a:rPr lang="ru-RU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Дизайн-студия «</a:t>
              </a:r>
              <a:r>
                <a:rPr lang="ru-RU" sz="1050" dirty="0" err="1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Логомашина</a:t>
              </a:r>
              <a:r>
                <a:rPr lang="ru-RU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»</a:t>
              </a:r>
              <a:r>
                <a:rPr lang="en-US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, </a:t>
              </a:r>
              <a:r>
                <a:rPr lang="ru-RU" sz="1050" dirty="0" err="1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C</a:t>
              </a:r>
              <a:r>
                <a:rPr lang="en-US" sz="1050" dirty="0" err="1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alArts</a:t>
              </a:r>
              <a:r>
                <a:rPr lang="en-US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, </a:t>
              </a:r>
              <a:r>
                <a:rPr lang="en-US" sz="1050" dirty="0" err="1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EnyaLis</a:t>
              </a:r>
              <a:r>
                <a:rPr lang="en-US" sz="1050" dirty="0">
                  <a:solidFill>
                    <a:schemeClr val="bg1"/>
                  </a:solidFill>
                  <a:latin typeface="Manrope Thin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 School, Leonova Academy</a:t>
              </a:r>
              <a:endParaRPr lang="ru-RU" sz="1050" dirty="0">
                <a:solidFill>
                  <a:schemeClr val="bg1"/>
                </a:solidFill>
                <a:latin typeface="Manrope Thin" pitchFamily="2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34945B09-EF11-C5AD-84DA-18AE1BF6E680}"/>
              </a:ext>
            </a:extLst>
          </p:cNvPr>
          <p:cNvSpPr txBox="1"/>
          <p:nvPr/>
        </p:nvSpPr>
        <p:spPr>
          <a:xfrm>
            <a:off x="327501" y="3367065"/>
            <a:ext cx="517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ru-RU" sz="2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ПРОФИЛЬ КОМПЕТЕНЦИЙ:</a:t>
            </a:r>
            <a:endParaRPr lang="ru-RU" sz="2400" b="1" dirty="0">
              <a:solidFill>
                <a:schemeClr val="bg1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A1C9B09-E8FD-4ADF-83E5-4A14D06D08B1}"/>
              </a:ext>
            </a:extLst>
          </p:cNvPr>
          <p:cNvSpPr txBox="1"/>
          <p:nvPr/>
        </p:nvSpPr>
        <p:spPr>
          <a:xfrm>
            <a:off x="327500" y="4042415"/>
            <a:ext cx="7102000" cy="61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</a:pPr>
            <a:r>
              <a:rPr lang="ru-RU" sz="14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  <a:t>Создание презентационных материалов</a:t>
            </a:r>
            <a:br>
              <a:rPr lang="ru-RU" sz="12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</a:br>
            <a:r>
              <a:rPr lang="ru-RU" sz="12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презентации для выставок, форумов, конференций, отраслевых премий, бизнес-встреч, питчей, внутрикорпоративных мероприятий</a:t>
            </a:r>
            <a:endParaRPr lang="ru-RU" sz="1200" dirty="0">
              <a:solidFill>
                <a:schemeClr val="bg1"/>
              </a:solidFill>
              <a:effectLst/>
              <a:latin typeface="Manrope Thin" pitchFamily="2" charset="0"/>
              <a:ea typeface="Inter" panose="02000503000000020004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2335AB1-14D0-A250-CB95-B0CF6E226734}"/>
              </a:ext>
            </a:extLst>
          </p:cNvPr>
          <p:cNvSpPr txBox="1"/>
          <p:nvPr/>
        </p:nvSpPr>
        <p:spPr>
          <a:xfrm>
            <a:off x="327500" y="4984160"/>
            <a:ext cx="7102000" cy="45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</a:pPr>
            <a:r>
              <a:rPr lang="ru-RU" sz="14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  <a:t>Дизайн визуалов для корпоративных каналов в социальных сетях</a:t>
            </a:r>
            <a:br>
              <a:rPr lang="ru-RU" sz="12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</a:br>
            <a:r>
              <a:rPr lang="ru-RU" sz="12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шаблоны постов, новостные материалы, рекламные акции</a:t>
            </a:r>
            <a:endParaRPr lang="ru-RU" sz="1200" dirty="0">
              <a:solidFill>
                <a:schemeClr val="bg1"/>
              </a:solidFill>
              <a:effectLst/>
              <a:latin typeface="Manrope Thin" pitchFamily="2" charset="0"/>
              <a:ea typeface="Inter" panose="02000503000000020004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F98A02C-94E3-BFF3-B8D3-A54CD735CAFC}"/>
              </a:ext>
            </a:extLst>
          </p:cNvPr>
          <p:cNvSpPr txBox="1"/>
          <p:nvPr/>
        </p:nvSpPr>
        <p:spPr>
          <a:xfrm>
            <a:off x="327500" y="5759707"/>
            <a:ext cx="7102000" cy="61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</a:pPr>
            <a:r>
              <a:rPr lang="ru-RU" sz="14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  <a:t>Внутрикорпоративный дизайн</a:t>
            </a:r>
            <a:br>
              <a:rPr lang="ru-RU" sz="12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</a:br>
            <a:r>
              <a:rPr lang="ru-RU" sz="12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интерьерные постеры, рассылки, дипломы, заставки, сертификаты, обложки подкастов, внутренние документы, материалы для </a:t>
            </a:r>
            <a:r>
              <a:rPr lang="ru-RU" sz="1200" dirty="0" err="1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таунхоллов</a:t>
            </a:r>
            <a:r>
              <a:rPr lang="ru-RU" sz="12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, профайлы компании, брендбуки</a:t>
            </a:r>
            <a:endParaRPr lang="ru-RU" sz="1200" dirty="0">
              <a:solidFill>
                <a:schemeClr val="bg1"/>
              </a:solidFill>
              <a:effectLst/>
              <a:latin typeface="Manrope Thin" pitchFamily="2" charset="0"/>
              <a:ea typeface="Inter" panose="02000503000000020004" pitchFamily="2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3CCC1C0-4BC4-6A47-50F6-047FEEB4B361}"/>
              </a:ext>
            </a:extLst>
          </p:cNvPr>
          <p:cNvSpPr txBox="1"/>
          <p:nvPr/>
        </p:nvSpPr>
        <p:spPr>
          <a:xfrm>
            <a:off x="7889589" y="3321440"/>
            <a:ext cx="3894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ru-RU" sz="40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  <a:t>100+ презентаций</a:t>
            </a:r>
            <a:endParaRPr lang="ru-RU" sz="4000" dirty="0">
              <a:solidFill>
                <a:schemeClr val="bg1"/>
              </a:solidFill>
              <a:effectLst/>
              <a:latin typeface="Manrope Thin" pitchFamily="2" charset="0"/>
              <a:ea typeface="Inter" panose="02000503000000020004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230C337-D214-12C9-B10A-6CCA2E58259D}"/>
              </a:ext>
            </a:extLst>
          </p:cNvPr>
          <p:cNvSpPr txBox="1"/>
          <p:nvPr/>
        </p:nvSpPr>
        <p:spPr>
          <a:xfrm>
            <a:off x="7889589" y="4680596"/>
            <a:ext cx="409797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  <a:spcAft>
                <a:spcPts val="400"/>
              </a:spcAft>
            </a:pPr>
            <a:r>
              <a:rPr lang="ru-RU" sz="1100" b="1" dirty="0">
                <a:solidFill>
                  <a:schemeClr val="bg1"/>
                </a:solidFill>
                <a:latin typeface="Manrope Bold" pitchFamily="2" charset="0"/>
                <a:ea typeface="Inter" panose="02000503000000020004" pitchFamily="2" charset="0"/>
              </a:rPr>
              <a:t>в том числе для: </a:t>
            </a:r>
            <a:r>
              <a:rPr lang="ru-RU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Восточного экономического форума, конференций  ИД «Коммерсантъ», международной выставки-форума </a:t>
            </a:r>
            <a:r>
              <a:rPr lang="en-US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MALLPIC,</a:t>
            </a:r>
            <a:r>
              <a:rPr lang="ru-RU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 международной выставки </a:t>
            </a:r>
            <a:r>
              <a:rPr lang="en" sz="1100" dirty="0" err="1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NatMall</a:t>
            </a:r>
            <a:r>
              <a:rPr lang="en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, премий </a:t>
            </a:r>
            <a:r>
              <a:rPr lang="en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CRE Awards, Real Estate Property Awards</a:t>
            </a:r>
            <a:r>
              <a:rPr lang="ru-RU" sz="1100" dirty="0">
                <a:solidFill>
                  <a:schemeClr val="bg1"/>
                </a:solidFill>
                <a:latin typeface="Manrope Thin" pitchFamily="2" charset="0"/>
                <a:ea typeface="Inter" panose="02000503000000020004" pitchFamily="2" charset="0"/>
              </a:rPr>
              <a:t> и множества других мероприятий</a:t>
            </a:r>
            <a:endParaRPr lang="ru-RU" sz="1100" dirty="0">
              <a:solidFill>
                <a:schemeClr val="bg1"/>
              </a:solidFill>
              <a:effectLst/>
              <a:latin typeface="Manrope Thin" pitchFamily="2" charset="0"/>
              <a:ea typeface="Inter" panose="02000503000000020004" pitchFamily="2" charset="0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77EC701F-88B3-C487-CAFE-1A93FDBEC27A}"/>
              </a:ext>
            </a:extLst>
          </p:cNvPr>
          <p:cNvSpPr/>
          <p:nvPr/>
        </p:nvSpPr>
        <p:spPr>
          <a:xfrm>
            <a:off x="7553739" y="5847969"/>
            <a:ext cx="4638261" cy="1023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ED90BDD0-D8E4-01DC-8A1A-405E99A63FAB}"/>
              </a:ext>
            </a:extLst>
          </p:cNvPr>
          <p:cNvGrpSpPr/>
          <p:nvPr/>
        </p:nvGrpSpPr>
        <p:grpSpPr>
          <a:xfrm>
            <a:off x="7889588" y="6044540"/>
            <a:ext cx="4054843" cy="630745"/>
            <a:chOff x="7889588" y="6044540"/>
            <a:chExt cx="4054843" cy="6307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A52C7B-D01A-C63E-37E6-593F15432EBC}"/>
                </a:ext>
              </a:extLst>
            </p:cNvPr>
            <p:cNvSpPr txBox="1"/>
            <p:nvPr/>
          </p:nvSpPr>
          <p:spPr>
            <a:xfrm>
              <a:off x="7889588" y="6044540"/>
              <a:ext cx="176241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750"/>
                </a:spcBef>
                <a:spcAft>
                  <a:spcPts val="400"/>
                </a:spcAft>
              </a:pPr>
              <a:r>
                <a:rPr lang="ru-RU" sz="1200" b="1" dirty="0">
                  <a:solidFill>
                    <a:srgbClr val="2132A0"/>
                  </a:solidFill>
                  <a:latin typeface="Manrope Bold" pitchFamily="2" charset="0"/>
                  <a:ea typeface="Inter" panose="02000503000000020004" pitchFamily="2" charset="0"/>
                </a:rPr>
                <a:t>КОНТАКТЫ:</a:t>
              </a:r>
              <a:endParaRPr lang="ru-RU" sz="1200" b="1" dirty="0">
                <a:solidFill>
                  <a:srgbClr val="2132A0"/>
                </a:solidFill>
                <a:effectLst/>
                <a:latin typeface="Manrope Bold" pitchFamily="2" charset="0"/>
                <a:ea typeface="Inter" panose="02000503000000020004" pitchFamily="2" charset="0"/>
              </a:endParaRPr>
            </a:p>
          </p:txBody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05DBC626-7531-240D-2006-FBAFCBE2DCB0}"/>
                </a:ext>
              </a:extLst>
            </p:cNvPr>
            <p:cNvGrpSpPr/>
            <p:nvPr/>
          </p:nvGrpSpPr>
          <p:grpSpPr>
            <a:xfrm>
              <a:off x="7967659" y="6381085"/>
              <a:ext cx="3976772" cy="294200"/>
              <a:chOff x="7967659" y="6381085"/>
              <a:chExt cx="3976772" cy="29420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992E3A-F238-B79C-10BC-E688FA713471}"/>
                  </a:ext>
                </a:extLst>
              </p:cNvPr>
              <p:cNvSpPr txBox="1"/>
              <p:nvPr/>
            </p:nvSpPr>
            <p:spPr>
              <a:xfrm>
                <a:off x="8335652" y="6408922"/>
                <a:ext cx="1762411" cy="238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750"/>
                  </a:spcBef>
                  <a:spcAft>
                    <a:spcPts val="400"/>
                  </a:spcAft>
                </a:pPr>
                <a:r>
                  <a:rPr lang="en-US" sz="95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nrope Thin" pitchFamily="2" charset="0"/>
                    <a:ea typeface="Inter" panose="02000503000000020004" pitchFamily="2" charset="0"/>
                  </a:rPr>
                  <a:t>agutsal93@gmail.com</a:t>
                </a:r>
                <a:endParaRPr lang="ru-RU" sz="9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anrope Thin" pitchFamily="2" charset="0"/>
                  <a:ea typeface="Inter" panose="02000503000000020004" pitchFamily="2" charset="0"/>
                </a:endParaRPr>
              </a:p>
            </p:txBody>
          </p:sp>
          <p:grpSp>
            <p:nvGrpSpPr>
              <p:cNvPr id="37" name="Группа 36">
                <a:extLst>
                  <a:ext uri="{FF2B5EF4-FFF2-40B4-BE49-F238E27FC236}">
                    <a16:creationId xmlns:a16="http://schemas.microsoft.com/office/drawing/2014/main" id="{5D00E977-1B60-1EC8-FDDA-083EDF4B1D06}"/>
                  </a:ext>
                </a:extLst>
              </p:cNvPr>
              <p:cNvGrpSpPr/>
              <p:nvPr/>
            </p:nvGrpSpPr>
            <p:grpSpPr>
              <a:xfrm>
                <a:off x="7967659" y="6381085"/>
                <a:ext cx="378499" cy="294200"/>
                <a:chOff x="7847150" y="-1035267"/>
                <a:chExt cx="683097" cy="530957"/>
              </a:xfrm>
            </p:grpSpPr>
            <p:sp>
              <p:nvSpPr>
                <p:cNvPr id="19" name="Овал 18">
                  <a:extLst>
                    <a:ext uri="{FF2B5EF4-FFF2-40B4-BE49-F238E27FC236}">
                      <a16:creationId xmlns:a16="http://schemas.microsoft.com/office/drawing/2014/main" id="{86FC35A6-52EE-18B8-AC17-0F17CDC1139E}"/>
                    </a:ext>
                  </a:extLst>
                </p:cNvPr>
                <p:cNvSpPr/>
                <p:nvPr/>
              </p:nvSpPr>
              <p:spPr>
                <a:xfrm>
                  <a:off x="7847150" y="-1035267"/>
                  <a:ext cx="530956" cy="530957"/>
                </a:xfrm>
                <a:prstGeom prst="ellipse">
                  <a:avLst/>
                </a:prstGeom>
                <a:solidFill>
                  <a:srgbClr val="3454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pic>
              <p:nvPicPr>
                <p:cNvPr id="25" name="Рисунок 24" descr="Изображение выглядит как белый, символ, Графика, линия&#10;&#10;Содержимое, созданное искусственным интеллектом, может быть неверным.">
                  <a:extLst>
                    <a:ext uri="{FF2B5EF4-FFF2-40B4-BE49-F238E27FC236}">
                      <a16:creationId xmlns:a16="http://schemas.microsoft.com/office/drawing/2014/main" id="{784B35BF-175D-F5CC-B4B7-8937BB5BB7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85804" y="-981054"/>
                  <a:ext cx="444443" cy="444443"/>
                </a:xfrm>
                <a:prstGeom prst="rect">
                  <a:avLst/>
                </a:prstGeom>
              </p:spPr>
            </p:pic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37BEC0-E226-0235-E6F8-E5E690879245}"/>
                  </a:ext>
                </a:extLst>
              </p:cNvPr>
              <p:cNvSpPr txBox="1"/>
              <p:nvPr/>
            </p:nvSpPr>
            <p:spPr>
              <a:xfrm>
                <a:off x="10411677" y="6408922"/>
                <a:ext cx="1532754" cy="238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750"/>
                  </a:spcBef>
                  <a:spcAft>
                    <a:spcPts val="400"/>
                  </a:spcAft>
                </a:pPr>
                <a:r>
                  <a:rPr lang="ru-RU" sz="95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Manrope Thin" pitchFamily="2" charset="0"/>
                    <a:ea typeface="Inter" panose="02000503000000020004" pitchFamily="2" charset="0"/>
                  </a:rPr>
                  <a:t>8 – 909 – 692 – 86 - 91</a:t>
                </a:r>
              </a:p>
            </p:txBody>
          </p:sp>
          <p:grpSp>
            <p:nvGrpSpPr>
              <p:cNvPr id="38" name="Группа 37">
                <a:extLst>
                  <a:ext uri="{FF2B5EF4-FFF2-40B4-BE49-F238E27FC236}">
                    <a16:creationId xmlns:a16="http://schemas.microsoft.com/office/drawing/2014/main" id="{41EA384B-19B2-5ACE-D351-35A3922C3C6C}"/>
                  </a:ext>
                </a:extLst>
              </p:cNvPr>
              <p:cNvGrpSpPr/>
              <p:nvPr/>
            </p:nvGrpSpPr>
            <p:grpSpPr>
              <a:xfrm>
                <a:off x="10076591" y="6381085"/>
                <a:ext cx="320323" cy="294200"/>
                <a:chOff x="7847184" y="-306305"/>
                <a:chExt cx="578107" cy="530957"/>
              </a:xfrm>
            </p:grpSpPr>
            <p:sp>
              <p:nvSpPr>
                <p:cNvPr id="28" name="Овал 27">
                  <a:extLst>
                    <a:ext uri="{FF2B5EF4-FFF2-40B4-BE49-F238E27FC236}">
                      <a16:creationId xmlns:a16="http://schemas.microsoft.com/office/drawing/2014/main" id="{8C898A94-E752-616F-5A4F-3B42C708AB88}"/>
                    </a:ext>
                  </a:extLst>
                </p:cNvPr>
                <p:cNvSpPr/>
                <p:nvPr/>
              </p:nvSpPr>
              <p:spPr>
                <a:xfrm>
                  <a:off x="7847184" y="-306305"/>
                  <a:ext cx="530961" cy="530957"/>
                </a:xfrm>
                <a:prstGeom prst="ellipse">
                  <a:avLst/>
                </a:prstGeom>
                <a:solidFill>
                  <a:srgbClr val="3454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03A8D868-B5F4-E533-8D0D-EBE696F1D89F}"/>
                    </a:ext>
                  </a:extLst>
                </p:cNvPr>
                <p:cNvGrpSpPr/>
                <p:nvPr/>
              </p:nvGrpSpPr>
              <p:grpSpPr>
                <a:xfrm>
                  <a:off x="8200360" y="-240990"/>
                  <a:ext cx="224931" cy="424061"/>
                  <a:chOff x="9165713" y="-827001"/>
                  <a:chExt cx="224931" cy="424061"/>
                </a:xfrm>
              </p:grpSpPr>
              <p:sp>
                <p:nvSpPr>
                  <p:cNvPr id="30" name="Скругленный прямоугольник 29">
                    <a:extLst>
                      <a:ext uri="{FF2B5EF4-FFF2-40B4-BE49-F238E27FC236}">
                        <a16:creationId xmlns:a16="http://schemas.microsoft.com/office/drawing/2014/main" id="{B3F36A07-763E-B5A9-7E7C-9EB15C27FDC6}"/>
                      </a:ext>
                    </a:extLst>
                  </p:cNvPr>
                  <p:cNvSpPr/>
                  <p:nvPr/>
                </p:nvSpPr>
                <p:spPr>
                  <a:xfrm>
                    <a:off x="9165713" y="-827001"/>
                    <a:ext cx="224931" cy="424061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847795A6-2127-2C60-5998-CEFC39E4C640}"/>
                      </a:ext>
                    </a:extLst>
                  </p:cNvPr>
                  <p:cNvSpPr/>
                  <p:nvPr/>
                </p:nvSpPr>
                <p:spPr>
                  <a:xfrm>
                    <a:off x="9253402" y="-474573"/>
                    <a:ext cx="49472" cy="4947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4" name="Прямая соединительная линия 33">
                    <a:extLst>
                      <a:ext uri="{FF2B5EF4-FFF2-40B4-BE49-F238E27FC236}">
                        <a16:creationId xmlns:a16="http://schemas.microsoft.com/office/drawing/2014/main" id="{FC689C0F-B70B-C2C1-F8DA-76E75E3EEA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48365" y="-771361"/>
                    <a:ext cx="59546" cy="0"/>
                  </a:xfrm>
                  <a:prstGeom prst="line">
                    <a:avLst/>
                  </a:prstGeom>
                  <a:ln w="12700" cap="rnd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1020875643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7465</TotalTime>
  <Words>177</Words>
  <Application>Microsoft Macintosh PowerPoint</Application>
  <PresentationFormat>Широкоэкранный</PresentationFormat>
  <Paragraphs>20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Inter</vt:lpstr>
      <vt:lpstr>Manrope</vt:lpstr>
      <vt:lpstr>Manrope Bold</vt:lpstr>
      <vt:lpstr>Manrope ExtraBold</vt:lpstr>
      <vt:lpstr>Manrope Thin</vt:lpstr>
      <vt:lpstr>1_Тема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Aleksandra Rostovskaya</dc:creator>
  <cp:lastModifiedBy>Alexandra Itunina</cp:lastModifiedBy>
  <cp:revision>64</cp:revision>
  <dcterms:created xsi:type="dcterms:W3CDTF">2025-07-12T13:40:14Z</dcterms:created>
  <dcterms:modified xsi:type="dcterms:W3CDTF">2026-09-11T19:15:07Z</dcterms:modified>
</cp:coreProperties>
</file>